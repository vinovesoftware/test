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58" r:id="rId3"/>
    <p:sldId id="260" r:id="rId4"/>
    <p:sldId id="262" r:id="rId5"/>
    <p:sldId id="263" r:id="rId6"/>
    <p:sldId id="269" r:id="rId7"/>
    <p:sldId id="264" r:id="rId8"/>
    <p:sldId id="265" r:id="rId9"/>
    <p:sldId id="266" r:id="rId10"/>
    <p:sldId id="267" r:id="rId11"/>
    <p:sldId id="270" r:id="rId12"/>
    <p:sldId id="271" r:id="rId13"/>
    <p:sldId id="272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60" autoAdjust="0"/>
    <p:restoredTop sz="94624" autoAdjust="0"/>
  </p:normalViewPr>
  <p:slideViewPr>
    <p:cSldViewPr>
      <p:cViewPr>
        <p:scale>
          <a:sx n="70" d="100"/>
          <a:sy n="70" d="100"/>
        </p:scale>
        <p:origin x="-1386" y="-66"/>
      </p:cViewPr>
      <p:guideLst>
        <p:guide orient="horz" pos="3016"/>
        <p:guide pos="2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8F378-3835-4B96-A4EA-E57BD399870D}" type="datetimeFigureOut">
              <a:rPr lang="en-US" smtClean="0"/>
              <a:pPr/>
              <a:t>13-Jul-13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4D498-CB18-4F6A-841E-A257019C97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6CEB1323-9546-41F7-B9C4-5467453D06D4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CA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35A476E-6CB9-4466-B48C-6BB54B8D0A47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D7CB50FD-25AB-47FC-BC32-1547DDFDB36F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ADC5B-ED4E-4B89-8EA5-88DC07DD1651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AA7F-C04F-4189-9AD9-51E8C0D61D60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6B95A74-1826-403A-BA2F-C550561F31C3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17BA-DEC3-4272-AE5D-AF8CE75E86C5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67DF2D68-6E6C-4252-91F1-2CBD147D3C73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C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DB30AC0-581B-4C48-983A-C0CBDE22BA06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2A384-2CDD-4BB0-AFB9-43903FFC5B68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25189-8FD6-4FA2-BDD9-E855F8EAA0E2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78097CD-13E4-4673-9CE1-3FC4C0A42A7E}" type="datetime1">
              <a:rPr lang="en-US" smtClean="0"/>
              <a:pPr/>
              <a:t>13-Jul-13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40200" y="762000"/>
            <a:ext cx="65" cy="94897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endParaRPr lang="en-CA" sz="3200" dirty="0" smtClean="0">
              <a:solidFill>
                <a:srgbClr val="000000"/>
              </a:solidFill>
              <a:latin typeface="Liberation Sans Narrow"/>
              <a:cs typeface="Liberation Sans Narrow"/>
            </a:endParaRPr>
          </a:p>
          <a:p>
            <a:pPr>
              <a:lnSpc>
                <a:spcPts val="36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76300" y="2000240"/>
            <a:ext cx="65" cy="6612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  <a:tabLst>
                <a:tab pos="457200" algn="l"/>
              </a:tabLst>
            </a:pPr>
            <a:endParaRPr lang="en-CA" sz="2000" b="1" dirty="0" smtClean="0">
              <a:solidFill>
                <a:srgbClr val="000000"/>
              </a:solidFill>
              <a:latin typeface="Liberation Sans Narrow"/>
              <a:cs typeface="Liberation Sans Narrow"/>
            </a:endParaRPr>
          </a:p>
          <a:p>
            <a:pPr>
              <a:lnSpc>
                <a:spcPts val="2700"/>
              </a:lnSpc>
            </a:pPr>
            <a:endParaRPr lang="en-CA" sz="2000" dirty="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33500" y="2590800"/>
            <a:ext cx="65" cy="6836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50"/>
              </a:lnSpc>
              <a:tabLst>
                <a:tab pos="457200" algn="l"/>
              </a:tabLst>
            </a:pPr>
            <a:endParaRPr lang="en-CA" sz="2000" b="1" dirty="0" smtClean="0">
              <a:latin typeface="Liberation Sans Narrow"/>
              <a:cs typeface="Liberation Sans Narrow"/>
            </a:endParaRPr>
          </a:p>
          <a:p>
            <a:pPr>
              <a:lnSpc>
                <a:spcPts val="2750"/>
              </a:lnSpc>
            </a:pPr>
            <a:endParaRPr lang="en-CA" sz="2000" dirty="0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33500" y="4286256"/>
            <a:ext cx="65" cy="6612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endParaRPr lang="en-CA" sz="2000" b="1" dirty="0" smtClean="0">
              <a:latin typeface="Liberation Sans Narrow"/>
              <a:cs typeface="Liberation Sans Narrow"/>
            </a:endParaRPr>
          </a:p>
          <a:p>
            <a:pPr>
              <a:lnSpc>
                <a:spcPts val="2700"/>
              </a:lnSpc>
            </a:pPr>
            <a:endParaRPr lang="en-CA" sz="2000" dirty="0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86800" y="6413500"/>
            <a:ext cx="65" cy="5899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endParaRPr lang="en-CA" sz="2000" dirty="0" smtClean="0">
              <a:solidFill>
                <a:srgbClr val="000000"/>
              </a:solidFill>
              <a:latin typeface="Liberation Sans Narrow"/>
              <a:cs typeface="Liberation Sans Narrow"/>
            </a:endParaRPr>
          </a:p>
          <a:p>
            <a:pPr>
              <a:lnSpc>
                <a:spcPts val="2300"/>
              </a:lnSpc>
            </a:pPr>
            <a:endParaRPr lang="en-CA" sz="2000" dirty="0">
              <a:solidFill>
                <a:srgbClr val="00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-58996" y="-71462"/>
            <a:ext cx="9261993" cy="6929462"/>
            <a:chOff x="-46523" y="-71462"/>
            <a:chExt cx="9261993" cy="6929462"/>
          </a:xfrm>
        </p:grpSpPr>
        <p:grpSp>
          <p:nvGrpSpPr>
            <p:cNvPr id="11" name="Group 10"/>
            <p:cNvGrpSpPr/>
            <p:nvPr/>
          </p:nvGrpSpPr>
          <p:grpSpPr>
            <a:xfrm>
              <a:off x="-46523" y="0"/>
              <a:ext cx="9190523" cy="6858000"/>
              <a:chOff x="-46523" y="0"/>
              <a:chExt cx="9190523" cy="6858000"/>
            </a:xfrm>
          </p:grpSpPr>
          <p:pic>
            <p:nvPicPr>
              <p:cNvPr id="13" name="Picture 1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96667"/>
              <a:stretch>
                <a:fillRect/>
              </a:stretch>
            </p:blipFill>
            <p:spPr bwMode="auto">
              <a:xfrm>
                <a:off x="-46523" y="6629400"/>
                <a:ext cx="9190523" cy="228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4" name="Picture 13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5555" b="86667"/>
              <a:stretch>
                <a:fillRect/>
              </a:stretch>
            </p:blipFill>
            <p:spPr bwMode="auto">
              <a:xfrm>
                <a:off x="0" y="0"/>
                <a:ext cx="9144000" cy="53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2" name="TextBox 19"/>
            <p:cNvSpPr txBox="1"/>
            <p:nvPr/>
          </p:nvSpPr>
          <p:spPr>
            <a:xfrm flipH="1">
              <a:off x="4143372" y="-71462"/>
              <a:ext cx="50720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1</a:t>
            </a:fld>
            <a:endParaRPr lang="en-CA"/>
          </a:p>
        </p:txBody>
      </p:sp>
      <p:sp>
        <p:nvSpPr>
          <p:cNvPr id="17" name="Right Arrow 16"/>
          <p:cNvSpPr/>
          <p:nvPr/>
        </p:nvSpPr>
        <p:spPr>
          <a:xfrm flipH="1">
            <a:off x="6000760" y="571480"/>
            <a:ext cx="3143240" cy="1285884"/>
          </a:xfrm>
          <a:prstGeom prst="rightArrow">
            <a:avLst>
              <a:gd name="adj1" fmla="val 50000"/>
              <a:gd name="adj2" fmla="val 420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18" name="Rectangle 17"/>
          <p:cNvSpPr/>
          <p:nvPr/>
        </p:nvSpPr>
        <p:spPr>
          <a:xfrm>
            <a:off x="6357950" y="1010184"/>
            <a:ext cx="2714644" cy="566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680"/>
              </a:lnSpc>
            </a:pPr>
            <a:r>
              <a:rPr lang="en-CA" sz="4800" b="1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Outline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44" y="571480"/>
            <a:ext cx="5429288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smtClean="0">
                <a:latin typeface="Georgia" pitchFamily="18" charset="0"/>
              </a:rPr>
              <a:t>Login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err="1" smtClean="0">
                <a:latin typeface="Georgia" pitchFamily="18" charset="0"/>
              </a:rPr>
              <a:t>Pwd</a:t>
            </a:r>
            <a:r>
              <a:rPr lang="en-US" sz="2000" b="1" dirty="0" smtClean="0">
                <a:latin typeface="Georgia" pitchFamily="18" charset="0"/>
              </a:rPr>
              <a:t> command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smtClean="0">
                <a:latin typeface="Georgia" pitchFamily="18" charset="0"/>
              </a:rPr>
              <a:t>Touch  command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err="1" smtClean="0">
                <a:latin typeface="Georgia" pitchFamily="18" charset="0"/>
              </a:rPr>
              <a:t>Mkdir</a:t>
            </a:r>
            <a:r>
              <a:rPr lang="en-US" sz="2000" b="1" dirty="0" smtClean="0">
                <a:latin typeface="Georgia" pitchFamily="18" charset="0"/>
              </a:rPr>
              <a:t> command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smtClean="0">
                <a:latin typeface="Georgia" pitchFamily="18" charset="0"/>
              </a:rPr>
              <a:t>Parent directory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err="1" smtClean="0">
                <a:latin typeface="Georgia" pitchFamily="18" charset="0"/>
              </a:rPr>
              <a:t>Cd</a:t>
            </a:r>
            <a:r>
              <a:rPr lang="en-US" sz="2000" b="1" dirty="0" smtClean="0">
                <a:latin typeface="Georgia" pitchFamily="18" charset="0"/>
              </a:rPr>
              <a:t> 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smtClean="0">
                <a:latin typeface="Georgia" pitchFamily="18" charset="0"/>
              </a:rPr>
              <a:t>Ls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smtClean="0">
                <a:latin typeface="Georgia" pitchFamily="18" charset="0"/>
              </a:rPr>
              <a:t>How to create parent directory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smtClean="0">
                <a:latin typeface="Georgia" pitchFamily="18" charset="0"/>
              </a:rPr>
              <a:t>Copy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smtClean="0">
                <a:latin typeface="Georgia" pitchFamily="18" charset="0"/>
              </a:rPr>
              <a:t>Remove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smtClean="0">
                <a:latin typeface="Georgia" pitchFamily="18" charset="0"/>
              </a:rPr>
              <a:t>Move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000" b="1" dirty="0" smtClean="0">
                <a:latin typeface="Georgia" pitchFamily="18" charset="0"/>
              </a:rPr>
              <a:t>Rename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endParaRPr lang="en-US" sz="2000" b="1" dirty="0" smtClean="0"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58996" y="-71462"/>
            <a:ext cx="9261993" cy="6929462"/>
            <a:chOff x="-46523" y="-71462"/>
            <a:chExt cx="9261993" cy="6929462"/>
          </a:xfrm>
        </p:grpSpPr>
        <p:grpSp>
          <p:nvGrpSpPr>
            <p:cNvPr id="6" name="Group 5"/>
            <p:cNvGrpSpPr/>
            <p:nvPr/>
          </p:nvGrpSpPr>
          <p:grpSpPr>
            <a:xfrm>
              <a:off x="-46523" y="0"/>
              <a:ext cx="9190523" cy="6858000"/>
              <a:chOff x="-46523" y="0"/>
              <a:chExt cx="9190523" cy="6858000"/>
            </a:xfrm>
          </p:grpSpPr>
          <p:pic>
            <p:nvPicPr>
              <p:cNvPr id="8" name="Picture 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96667"/>
              <a:stretch>
                <a:fillRect/>
              </a:stretch>
            </p:blipFill>
            <p:spPr bwMode="auto">
              <a:xfrm>
                <a:off x="-46523" y="6629400"/>
                <a:ext cx="9190523" cy="228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9" name="Picture 8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5555" b="86667"/>
              <a:stretch>
                <a:fillRect/>
              </a:stretch>
            </p:blipFill>
            <p:spPr bwMode="auto">
              <a:xfrm>
                <a:off x="0" y="0"/>
                <a:ext cx="9144000" cy="53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7" name="TextBox 19"/>
            <p:cNvSpPr txBox="1"/>
            <p:nvPr/>
          </p:nvSpPr>
          <p:spPr>
            <a:xfrm flipH="1">
              <a:off x="4143372" y="-71462"/>
              <a:ext cx="50720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2</a:t>
            </a:fld>
            <a:endParaRPr lang="en-CA"/>
          </a:p>
        </p:txBody>
      </p:sp>
      <p:sp>
        <p:nvSpPr>
          <p:cNvPr id="11" name="TextBox 10"/>
          <p:cNvSpPr txBox="1"/>
          <p:nvPr/>
        </p:nvSpPr>
        <p:spPr>
          <a:xfrm>
            <a:off x="2357422" y="642918"/>
            <a:ext cx="4500594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Andalus" pitchFamily="18" charset="-78"/>
                <a:cs typeface="Andalus" pitchFamily="18" charset="-78"/>
              </a:rPr>
              <a:t>Basic commands</a:t>
            </a:r>
            <a:endParaRPr lang="en-US" sz="4000" dirty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 rot="10800000" flipV="1">
            <a:off x="2000232" y="3967466"/>
            <a:ext cx="5857916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~   ]  #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3174" y="2214554"/>
            <a:ext cx="3857652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Login: root</a:t>
            </a:r>
          </a:p>
          <a:p>
            <a:pPr algn="ctr"/>
            <a:r>
              <a:rPr lang="en-US" sz="2400" b="1" dirty="0" smtClean="0"/>
              <a:t>Password: </a:t>
            </a:r>
            <a:r>
              <a:rPr lang="en-US" sz="2400" b="1" dirty="0" err="1" smtClean="0"/>
              <a:t>redhat</a:t>
            </a:r>
            <a:endParaRPr lang="en-US" sz="2400" b="1" dirty="0" smtClean="0"/>
          </a:p>
        </p:txBody>
      </p:sp>
      <p:sp>
        <p:nvSpPr>
          <p:cNvPr id="18" name="Down Arrow 17"/>
          <p:cNvSpPr/>
          <p:nvPr/>
        </p:nvSpPr>
        <p:spPr>
          <a:xfrm>
            <a:off x="4286248" y="3071810"/>
            <a:ext cx="357190" cy="857256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142844" y="642918"/>
            <a:ext cx="9001156" cy="59246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</a:pPr>
            <a:endParaRPr lang="en-CA" sz="3200" dirty="0">
              <a:solidFill>
                <a:srgbClr val="000000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-58996" y="-71462"/>
            <a:ext cx="9261993" cy="6929462"/>
            <a:chOff x="-46523" y="-71462"/>
            <a:chExt cx="9261993" cy="6929462"/>
          </a:xfrm>
        </p:grpSpPr>
        <p:grpSp>
          <p:nvGrpSpPr>
            <p:cNvPr id="3" name="Group 5"/>
            <p:cNvGrpSpPr/>
            <p:nvPr/>
          </p:nvGrpSpPr>
          <p:grpSpPr>
            <a:xfrm>
              <a:off x="-46523" y="0"/>
              <a:ext cx="9190523" cy="6858000"/>
              <a:chOff x="-46523" y="0"/>
              <a:chExt cx="9190523" cy="6858000"/>
            </a:xfrm>
          </p:grpSpPr>
          <p:pic>
            <p:nvPicPr>
              <p:cNvPr id="8" name="Picture 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96667"/>
              <a:stretch>
                <a:fillRect/>
              </a:stretch>
            </p:blipFill>
            <p:spPr bwMode="auto">
              <a:xfrm>
                <a:off x="-46523" y="6629400"/>
                <a:ext cx="9190523" cy="228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9" name="Picture 8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5555" b="86667"/>
              <a:stretch>
                <a:fillRect/>
              </a:stretch>
            </p:blipFill>
            <p:spPr bwMode="auto">
              <a:xfrm>
                <a:off x="0" y="0"/>
                <a:ext cx="9144000" cy="53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7" name="TextBox 19"/>
            <p:cNvSpPr txBox="1"/>
            <p:nvPr/>
          </p:nvSpPr>
          <p:spPr>
            <a:xfrm flipH="1">
              <a:off x="4143372" y="-71462"/>
              <a:ext cx="50720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3</a:t>
            </a:fld>
            <a:endParaRPr lang="en-CA"/>
          </a:p>
        </p:txBody>
      </p:sp>
      <p:sp>
        <p:nvSpPr>
          <p:cNvPr id="13" name="TextBox 12"/>
          <p:cNvSpPr txBox="1"/>
          <p:nvPr/>
        </p:nvSpPr>
        <p:spPr>
          <a:xfrm rot="10800000" flipV="1">
            <a:off x="1428728" y="3929066"/>
            <a:ext cx="642942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2400" dirty="0" smtClean="0">
                <a:solidFill>
                  <a:srgbClr val="0070C0"/>
                </a:solidFill>
                <a:latin typeface="Arial Black" pitchFamily="34" charset="0"/>
                <a:cs typeface="Calibri"/>
              </a:rPr>
              <a:t>[ </a:t>
            </a:r>
            <a:r>
              <a:rPr lang="en-CA" sz="2400" dirty="0" err="1" smtClean="0">
                <a:solidFill>
                  <a:srgbClr val="0070C0"/>
                </a:solidFill>
                <a:latin typeface="Arial Black" pitchFamily="34" charset="0"/>
                <a:cs typeface="Calibri"/>
              </a:rPr>
              <a:t>krishna</a:t>
            </a:r>
            <a:r>
              <a:rPr lang="en-CA" sz="2400" dirty="0" smtClean="0">
                <a:solidFill>
                  <a:srgbClr val="0070C0"/>
                </a:solidFill>
                <a:latin typeface="Arial Black" pitchFamily="34" charset="0"/>
                <a:cs typeface="Calibri"/>
              </a:rPr>
              <a:t> @ </a:t>
            </a:r>
            <a:r>
              <a:rPr lang="en-CA" sz="2400" dirty="0" err="1" smtClean="0">
                <a:solidFill>
                  <a:srgbClr val="0070C0"/>
                </a:solidFill>
                <a:latin typeface="Arial Black" pitchFamily="34" charset="0"/>
                <a:cs typeface="Calibri"/>
              </a:rPr>
              <a:t>krnetworkcloud</a:t>
            </a:r>
            <a:r>
              <a:rPr lang="en-CA" sz="2400" dirty="0" smtClean="0">
                <a:solidFill>
                  <a:srgbClr val="0070C0"/>
                </a:solidFill>
                <a:latin typeface="Arial Black" pitchFamily="34" charset="0"/>
                <a:cs typeface="Calibri"/>
              </a:rPr>
              <a:t>  ~   ]$                                                      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8860" y="2214554"/>
            <a:ext cx="392909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Andalus" pitchFamily="18" charset="-78"/>
                <a:cs typeface="Andalus" pitchFamily="18" charset="-78"/>
              </a:rPr>
              <a:t>Login: </a:t>
            </a:r>
            <a:r>
              <a:rPr lang="en-US" sz="2400" b="1" dirty="0" err="1" smtClean="0">
                <a:latin typeface="Andalus" pitchFamily="18" charset="-78"/>
                <a:cs typeface="Andalus" pitchFamily="18" charset="-78"/>
              </a:rPr>
              <a:t>krishna</a:t>
            </a:r>
            <a:r>
              <a:rPr lang="en-US" sz="2400" b="1" dirty="0" smtClean="0">
                <a:latin typeface="Andalus" pitchFamily="18" charset="-78"/>
                <a:cs typeface="Andalus" pitchFamily="18" charset="-78"/>
              </a:rPr>
              <a:t>	</a:t>
            </a:r>
          </a:p>
          <a:p>
            <a:pPr algn="ctr"/>
            <a:r>
              <a:rPr lang="en-US" sz="2400" b="1" dirty="0" smtClean="0">
                <a:latin typeface="Andalus" pitchFamily="18" charset="-78"/>
                <a:cs typeface="Andalus" pitchFamily="18" charset="-78"/>
              </a:rPr>
              <a:t>Password: </a:t>
            </a:r>
            <a:r>
              <a:rPr lang="en-US" sz="2400" b="1" dirty="0" err="1" smtClean="0">
                <a:latin typeface="Andalus" pitchFamily="18" charset="-78"/>
                <a:cs typeface="Andalus" pitchFamily="18" charset="-78"/>
              </a:rPr>
              <a:t>redhat</a:t>
            </a:r>
            <a:endParaRPr lang="en-US" sz="2400" b="1" dirty="0" smtClean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1538" y="714356"/>
            <a:ext cx="6215106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Andalus" pitchFamily="18" charset="-78"/>
                <a:cs typeface="Andalus" pitchFamily="18" charset="-78"/>
              </a:rPr>
              <a:t>Basic  commands</a:t>
            </a:r>
            <a:endParaRPr lang="en-US" sz="4000" dirty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4286248" y="3071810"/>
            <a:ext cx="357190" cy="857256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142844" y="642918"/>
            <a:ext cx="9001156" cy="59246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  <a:tabLst>
                <a:tab pos="1905000" algn="l"/>
              </a:tabLst>
            </a:pPr>
            <a:endParaRPr lang="en-CA" sz="3210" b="1" dirty="0" smtClean="0">
              <a:solidFill>
                <a:srgbClr val="000000"/>
              </a:solidFill>
              <a:latin typeface="Liberation Sans Narrow Bold"/>
              <a:cs typeface="Liberation Sans Narrow Bold"/>
            </a:endParaRPr>
          </a:p>
          <a:p>
            <a:pPr>
              <a:lnSpc>
                <a:spcPts val="3300"/>
              </a:lnSpc>
            </a:pPr>
            <a:endParaRPr lang="en-CA" sz="3200" dirty="0">
              <a:solidFill>
                <a:srgbClr val="000000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-58996" y="-71462"/>
            <a:ext cx="9261993" cy="6929462"/>
            <a:chOff x="-46523" y="-71462"/>
            <a:chExt cx="9261993" cy="6929462"/>
          </a:xfrm>
        </p:grpSpPr>
        <p:grpSp>
          <p:nvGrpSpPr>
            <p:cNvPr id="3" name="Group 5"/>
            <p:cNvGrpSpPr/>
            <p:nvPr/>
          </p:nvGrpSpPr>
          <p:grpSpPr>
            <a:xfrm>
              <a:off x="-46523" y="0"/>
              <a:ext cx="9190523" cy="6858000"/>
              <a:chOff x="-46523" y="0"/>
              <a:chExt cx="9190523" cy="6858000"/>
            </a:xfrm>
          </p:grpSpPr>
          <p:pic>
            <p:nvPicPr>
              <p:cNvPr id="8" name="Picture 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96667"/>
              <a:stretch>
                <a:fillRect/>
              </a:stretch>
            </p:blipFill>
            <p:spPr bwMode="auto">
              <a:xfrm>
                <a:off x="-46523" y="6629400"/>
                <a:ext cx="9190523" cy="228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9" name="Picture 8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5555" b="86667"/>
              <a:stretch>
                <a:fillRect/>
              </a:stretch>
            </p:blipFill>
            <p:spPr bwMode="auto">
              <a:xfrm>
                <a:off x="0" y="0"/>
                <a:ext cx="9144000" cy="53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7" name="TextBox 19"/>
            <p:cNvSpPr txBox="1"/>
            <p:nvPr/>
          </p:nvSpPr>
          <p:spPr>
            <a:xfrm flipH="1">
              <a:off x="4143372" y="-71462"/>
              <a:ext cx="50720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4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142844" y="629647"/>
            <a:ext cx="8715436" cy="6155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3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Print the name of the current working directory</a:t>
            </a:r>
            <a:endParaRPr lang="en-US" sz="3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 rot="10800000" flipV="1">
            <a:off x="428596" y="1500174"/>
            <a:ext cx="8001056" cy="378565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sz="24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check - Present working directory</a:t>
            </a:r>
          </a:p>
          <a:p>
            <a:endParaRPr lang="en-CA" sz="2400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~   ]  # 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pwd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</a:t>
            </a:r>
          </a:p>
          <a:p>
            <a:r>
              <a:rPr lang="en-CA" sz="24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</a:t>
            </a:r>
          </a:p>
          <a:p>
            <a:r>
              <a:rPr lang="en-CA" sz="24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                      /root      { means super user home directory}</a:t>
            </a:r>
          </a:p>
          <a:p>
            <a:endParaRPr lang="en-CA" sz="2400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[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krishna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@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~ ] $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pwd</a:t>
            </a:r>
            <a:endParaRPr lang="en-CA" sz="2400" b="1" dirty="0" smtClean="0">
              <a:solidFill>
                <a:srgbClr val="0070C0"/>
              </a:solidFill>
              <a:latin typeface="Arial Black" pitchFamily="34" charset="0"/>
              <a:cs typeface="Andalus" pitchFamily="18" charset="-78"/>
            </a:endParaRPr>
          </a:p>
          <a:p>
            <a:endParaRPr lang="en-CA" sz="2400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sz="24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      /home/</a:t>
            </a:r>
            <a:r>
              <a:rPr lang="en-CA" sz="2400" b="1" dirty="0" err="1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krishna</a:t>
            </a:r>
            <a:r>
              <a:rPr lang="en-CA" sz="24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{means normal user home directory}</a:t>
            </a:r>
          </a:p>
          <a:p>
            <a:endParaRPr lang="en-CA" sz="2400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5</a:t>
            </a:fld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142844" y="1714488"/>
            <a:ext cx="8572560" cy="29238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2400" b="1" dirty="0" smtClean="0">
              <a:latin typeface="Andalus" pitchFamily="18" charset="-78"/>
              <a:cs typeface="Andalus" pitchFamily="18" charset="-78"/>
            </a:endParaRPr>
          </a:p>
          <a:p>
            <a:r>
              <a:rPr lang="en-CA" sz="24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create a Blank </a:t>
            </a:r>
            <a:r>
              <a:rPr lang="en-CA" sz="2400" b="1" dirty="0" err="1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fil</a:t>
            </a:r>
            <a:endParaRPr lang="en-CA" sz="2400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US" sz="2400" b="1" dirty="0" smtClean="0">
                <a:latin typeface="Andalus" pitchFamily="18" charset="-78"/>
                <a:cs typeface="Andalus" pitchFamily="18" charset="-78"/>
              </a:rPr>
              <a:t/>
            </a:r>
            <a:br>
              <a:rPr lang="en-US" sz="2400" b="1" dirty="0" smtClean="0">
                <a:latin typeface="Andalus" pitchFamily="18" charset="-78"/>
                <a:cs typeface="Andalus" pitchFamily="18" charset="-78"/>
              </a:rPr>
            </a:br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US" sz="20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~ ] # touch  &lt;filename&gt;</a:t>
            </a:r>
          </a:p>
          <a:p>
            <a:endParaRPr lang="en-CA" sz="2400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sz="24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create multiple Blanks files</a:t>
            </a:r>
          </a:p>
          <a:p>
            <a:endParaRPr lang="en-US" sz="2400" b="1" dirty="0" smtClean="0">
              <a:latin typeface="Andalus" pitchFamily="18" charset="-78"/>
              <a:cs typeface="Andalus" pitchFamily="18" charset="-78"/>
            </a:endParaRPr>
          </a:p>
          <a:p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[ </a:t>
            </a:r>
            <a:r>
              <a:rPr lang="en-US" sz="20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root@krnetworkcloud</a:t>
            </a:r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~] # touch   &lt;first file&gt;   &lt;second file&gt;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4414" y="428604"/>
            <a:ext cx="2586990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90"/>
              </a:lnSpc>
            </a:pPr>
            <a:r>
              <a:rPr lang="en-CA" sz="1600" b="1" dirty="0" smtClean="0">
                <a:solidFill>
                  <a:srgbClr val="FFFFFF"/>
                </a:solidFill>
                <a:latin typeface="Calibri Bold"/>
                <a:cs typeface="Calibri Bold"/>
              </a:rPr>
              <a:t>Touch </a:t>
            </a:r>
          </a:p>
          <a:p>
            <a:pPr>
              <a:lnSpc>
                <a:spcPts val="1090"/>
              </a:lnSpc>
            </a:pPr>
            <a:r>
              <a:rPr lang="en-CA" b="1" dirty="0" smtClean="0">
                <a:solidFill>
                  <a:srgbClr val="FFFFFF"/>
                </a:solidFill>
                <a:latin typeface="Calibri Bold"/>
                <a:cs typeface="Calibri Bold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7356" y="571480"/>
            <a:ext cx="5286412" cy="7694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Andalus" pitchFamily="18" charset="-78"/>
                <a:cs typeface="Andalus" pitchFamily="18" charset="-78"/>
              </a:rPr>
              <a:t>Touch Command</a:t>
            </a:r>
            <a:endParaRPr lang="en-US" sz="4400" b="1" dirty="0">
              <a:latin typeface="Andalus" pitchFamily="18" charset="-78"/>
              <a:cs typeface="Andalus" pitchFamily="18" charset="-78"/>
            </a:endParaRPr>
          </a:p>
        </p:txBody>
      </p:sp>
      <p:grpSp>
        <p:nvGrpSpPr>
          <p:cNvPr id="8" name="Group 4"/>
          <p:cNvGrpSpPr/>
          <p:nvPr/>
        </p:nvGrpSpPr>
        <p:grpSpPr>
          <a:xfrm>
            <a:off x="-58996" y="-71462"/>
            <a:ext cx="9261993" cy="6929462"/>
            <a:chOff x="-46523" y="-71462"/>
            <a:chExt cx="9261993" cy="6929462"/>
          </a:xfrm>
        </p:grpSpPr>
        <p:grpSp>
          <p:nvGrpSpPr>
            <p:cNvPr id="11" name="Group 5"/>
            <p:cNvGrpSpPr/>
            <p:nvPr/>
          </p:nvGrpSpPr>
          <p:grpSpPr>
            <a:xfrm>
              <a:off x="-46523" y="0"/>
              <a:ext cx="9190523" cy="6858000"/>
              <a:chOff x="-46523" y="0"/>
              <a:chExt cx="9190523" cy="6858000"/>
            </a:xfrm>
          </p:grpSpPr>
          <p:pic>
            <p:nvPicPr>
              <p:cNvPr id="13" name="Picture 1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96667"/>
              <a:stretch>
                <a:fillRect/>
              </a:stretch>
            </p:blipFill>
            <p:spPr bwMode="auto">
              <a:xfrm>
                <a:off x="-46523" y="6629400"/>
                <a:ext cx="9190523" cy="228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4" name="Picture 13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5555" b="86667"/>
              <a:stretch>
                <a:fillRect/>
              </a:stretch>
            </p:blipFill>
            <p:spPr bwMode="auto">
              <a:xfrm>
                <a:off x="0" y="0"/>
                <a:ext cx="9144000" cy="53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2" name="TextBox 19"/>
            <p:cNvSpPr txBox="1"/>
            <p:nvPr/>
          </p:nvSpPr>
          <p:spPr>
            <a:xfrm flipH="1">
              <a:off x="4143372" y="-71462"/>
              <a:ext cx="50720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6</a:t>
            </a:fld>
            <a:endParaRPr lang="en-CA"/>
          </a:p>
        </p:txBody>
      </p:sp>
      <p:sp>
        <p:nvSpPr>
          <p:cNvPr id="3" name="TextBox 2"/>
          <p:cNvSpPr txBox="1"/>
          <p:nvPr/>
        </p:nvSpPr>
        <p:spPr>
          <a:xfrm>
            <a:off x="357158" y="1353909"/>
            <a:ext cx="8072494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sz="22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see the list of files and directories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US" b="1" dirty="0" err="1" smtClean="0">
                <a:solidFill>
                  <a:srgbClr val="0070C0"/>
                </a:solidFill>
                <a:latin typeface="Andalus" pitchFamily="18" charset="-78"/>
                <a:cs typeface="Andalus" pitchFamily="18" charset="-78"/>
              </a:rPr>
              <a:t>krnetworkcloud</a:t>
            </a:r>
            <a:r>
              <a:rPr lang="en-US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~ ] # ls   &lt;options&gt;  &lt;arguments&gt;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29322" y="571480"/>
            <a:ext cx="3071834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Andalus" pitchFamily="18" charset="-78"/>
                <a:cs typeface="Andalus" pitchFamily="18" charset="-78"/>
              </a:rPr>
              <a:t>LS Command</a:t>
            </a:r>
            <a:endParaRPr lang="en-US" sz="4000" b="1" dirty="0">
              <a:latin typeface="Andalus" pitchFamily="18" charset="-78"/>
              <a:cs typeface="Andalus" pitchFamily="18" charset="-78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-71462"/>
            <a:ext cx="9261993" cy="6929462"/>
            <a:chOff x="-46523" y="-71462"/>
            <a:chExt cx="9261993" cy="6929462"/>
          </a:xfrm>
        </p:grpSpPr>
        <p:grpSp>
          <p:nvGrpSpPr>
            <p:cNvPr id="6" name="Group 5"/>
            <p:cNvGrpSpPr/>
            <p:nvPr/>
          </p:nvGrpSpPr>
          <p:grpSpPr>
            <a:xfrm>
              <a:off x="-46523" y="0"/>
              <a:ext cx="9190523" cy="6858000"/>
              <a:chOff x="-46523" y="0"/>
              <a:chExt cx="9190523" cy="6858000"/>
            </a:xfrm>
          </p:grpSpPr>
          <p:pic>
            <p:nvPicPr>
              <p:cNvPr id="8" name="Picture 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96667"/>
              <a:stretch>
                <a:fillRect/>
              </a:stretch>
            </p:blipFill>
            <p:spPr bwMode="auto">
              <a:xfrm>
                <a:off x="-46523" y="6629400"/>
                <a:ext cx="9190523" cy="228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9" name="Picture 8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5555" b="86667"/>
              <a:stretch>
                <a:fillRect/>
              </a:stretch>
            </p:blipFill>
            <p:spPr bwMode="auto">
              <a:xfrm>
                <a:off x="0" y="0"/>
                <a:ext cx="9144000" cy="53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7" name="TextBox 19"/>
            <p:cNvSpPr txBox="1"/>
            <p:nvPr/>
          </p:nvSpPr>
          <p:spPr>
            <a:xfrm flipH="1">
              <a:off x="4143372" y="-71462"/>
              <a:ext cx="50720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14282" y="2214554"/>
            <a:ext cx="6429420" cy="44935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-l    	</a:t>
            </a:r>
            <a:r>
              <a:rPr lang="en-CA" sz="2200" b="1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Long list including attributes</a:t>
            </a:r>
          </a:p>
          <a:p>
            <a:endParaRPr lang="en-US" sz="2200" dirty="0" smtClean="0">
              <a:latin typeface="Andalus" pitchFamily="18" charset="-78"/>
              <a:cs typeface="Andalus" pitchFamily="18" charset="-78"/>
            </a:endParaRPr>
          </a:p>
          <a:p>
            <a:r>
              <a:rPr lang="en-US" sz="22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-a   	</a:t>
            </a:r>
            <a:r>
              <a:rPr lang="en-CA" sz="2200" b="1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All files and directories including hidden</a:t>
            </a:r>
          </a:p>
          <a:p>
            <a:endParaRPr lang="en-US" sz="2200" dirty="0" smtClean="0">
              <a:latin typeface="Andalus" pitchFamily="18" charset="-78"/>
              <a:cs typeface="Andalus" pitchFamily="18" charset="-78"/>
            </a:endParaRPr>
          </a:p>
          <a:p>
            <a:r>
              <a:rPr lang="en-US" sz="22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-d  	 </a:t>
            </a:r>
            <a:r>
              <a:rPr lang="en-CA" sz="2200" b="1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For a particular file or directory</a:t>
            </a:r>
          </a:p>
          <a:p>
            <a:endParaRPr lang="en-US" sz="2200" dirty="0" smtClean="0">
              <a:latin typeface="Andalus" pitchFamily="18" charset="-78"/>
              <a:cs typeface="Andalus" pitchFamily="18" charset="-78"/>
            </a:endParaRPr>
          </a:p>
          <a:p>
            <a:r>
              <a:rPr lang="en-US" sz="22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-R  	</a:t>
            </a:r>
            <a:r>
              <a:rPr lang="en-CA" sz="2200" b="1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Recursive to see the tree structure</a:t>
            </a:r>
          </a:p>
          <a:p>
            <a:endParaRPr lang="en-US" sz="2200" dirty="0" smtClean="0">
              <a:latin typeface="Andalus" pitchFamily="18" charset="-78"/>
              <a:cs typeface="Andalus" pitchFamily="18" charset="-78"/>
            </a:endParaRPr>
          </a:p>
          <a:p>
            <a:r>
              <a:rPr lang="en-US" sz="22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-t</a:t>
            </a:r>
          </a:p>
          <a:p>
            <a:endParaRPr lang="en-US" sz="2200" dirty="0" smtClean="0">
              <a:latin typeface="Andalus" pitchFamily="18" charset="-78"/>
              <a:cs typeface="Andalus" pitchFamily="18" charset="-78"/>
            </a:endParaRPr>
          </a:p>
          <a:p>
            <a:r>
              <a:rPr lang="en-US" sz="22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-h</a:t>
            </a:r>
          </a:p>
          <a:p>
            <a:endParaRPr lang="en-US" sz="2200" dirty="0" smtClean="0">
              <a:latin typeface="Andalus" pitchFamily="18" charset="-78"/>
              <a:cs typeface="Andalus" pitchFamily="18" charset="-78"/>
            </a:endParaRPr>
          </a:p>
          <a:p>
            <a:r>
              <a:rPr lang="en-US" sz="22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-S</a:t>
            </a:r>
            <a:endParaRPr lang="en-US" sz="2200" b="1" dirty="0">
              <a:solidFill>
                <a:srgbClr val="002060"/>
              </a:solidFill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00760" y="2737192"/>
            <a:ext cx="2928958" cy="1406188"/>
          </a:xfrm>
          <a:prstGeom prst="leftArrow">
            <a:avLst>
              <a:gd name="adj1" fmla="val 50000"/>
              <a:gd name="adj2" fmla="val 684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Andalus" pitchFamily="18" charset="-78"/>
                <a:cs typeface="Andalus" pitchFamily="18" charset="-78"/>
              </a:rPr>
              <a:t>Options</a:t>
            </a:r>
            <a:endParaRPr lang="en-US" sz="4000" b="1" dirty="0"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7</a:t>
            </a:fld>
            <a:endParaRPr lang="en-CA"/>
          </a:p>
        </p:txBody>
      </p:sp>
      <p:sp>
        <p:nvSpPr>
          <p:cNvPr id="3" name="TextBox 2"/>
          <p:cNvSpPr txBox="1"/>
          <p:nvPr/>
        </p:nvSpPr>
        <p:spPr>
          <a:xfrm>
            <a:off x="285720" y="1537162"/>
            <a:ext cx="8358246" cy="3231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Andalus" pitchFamily="18" charset="-78"/>
              </a:rPr>
              <a:t>#</a:t>
            </a:r>
            <a:r>
              <a:rPr lang="en-US" sz="2000" b="1" dirty="0" err="1" smtClean="0">
                <a:latin typeface="Arial Black" pitchFamily="34" charset="0"/>
                <a:cs typeface="Andalus" pitchFamily="18" charset="-78"/>
              </a:rPr>
              <a:t>mkdir</a:t>
            </a:r>
            <a:r>
              <a:rPr lang="en-US" sz="2000" b="1" dirty="0" smtClean="0">
                <a:latin typeface="Arial Black" pitchFamily="34" charset="0"/>
                <a:cs typeface="Andalus" pitchFamily="18" charset="-78"/>
              </a:rPr>
              <a:t>  &lt;</a:t>
            </a:r>
            <a:r>
              <a:rPr lang="en-US" sz="2000" b="1" dirty="0" err="1" smtClean="0">
                <a:latin typeface="Arial Black" pitchFamily="34" charset="0"/>
                <a:cs typeface="Andalus" pitchFamily="18" charset="-78"/>
              </a:rPr>
              <a:t>directoryname</a:t>
            </a:r>
            <a:r>
              <a:rPr lang="en-US" sz="2000" b="1" dirty="0" smtClean="0">
                <a:latin typeface="Arial Black" pitchFamily="34" charset="0"/>
                <a:cs typeface="Andalus" pitchFamily="18" charset="-78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CA" sz="2400" b="1" dirty="0" smtClean="0">
                <a:latin typeface="Andalus" pitchFamily="18" charset="-78"/>
                <a:cs typeface="Andalus" pitchFamily="18" charset="-78"/>
              </a:rPr>
              <a:t>To create multiple directories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Andalus" pitchFamily="18" charset="-78"/>
              </a:rPr>
              <a:t># </a:t>
            </a:r>
            <a:r>
              <a:rPr lang="en-US" sz="2000" b="1" dirty="0" err="1" smtClean="0">
                <a:latin typeface="Arial Black" pitchFamily="34" charset="0"/>
                <a:cs typeface="Andalus" pitchFamily="18" charset="-78"/>
              </a:rPr>
              <a:t>mkdir</a:t>
            </a:r>
            <a:r>
              <a:rPr lang="en-US" sz="2000" b="1" dirty="0" smtClean="0">
                <a:latin typeface="Arial Black" pitchFamily="34" charset="0"/>
                <a:cs typeface="Andalus" pitchFamily="18" charset="-78"/>
              </a:rPr>
              <a:t>  &lt;first </a:t>
            </a:r>
            <a:r>
              <a:rPr lang="en-US" sz="2000" b="1" dirty="0" err="1" smtClean="0">
                <a:latin typeface="Arial Black" pitchFamily="34" charset="0"/>
                <a:cs typeface="Andalus" pitchFamily="18" charset="-78"/>
              </a:rPr>
              <a:t>directoryname</a:t>
            </a:r>
            <a:r>
              <a:rPr lang="en-US" sz="2000" b="1" dirty="0" smtClean="0">
                <a:latin typeface="Arial Black" pitchFamily="34" charset="0"/>
                <a:cs typeface="Andalus" pitchFamily="18" charset="-78"/>
              </a:rPr>
              <a:t>&gt;  &lt;second </a:t>
            </a:r>
            <a:r>
              <a:rPr lang="en-US" sz="2000" b="1" dirty="0" err="1" smtClean="0">
                <a:latin typeface="Arial Black" pitchFamily="34" charset="0"/>
                <a:cs typeface="Andalus" pitchFamily="18" charset="-78"/>
              </a:rPr>
              <a:t>directoryname</a:t>
            </a:r>
            <a:r>
              <a:rPr lang="en-US" sz="2000" b="1" dirty="0" smtClean="0">
                <a:latin typeface="Arial Black" pitchFamily="34" charset="0"/>
                <a:cs typeface="Andalus" pitchFamily="18" charset="-78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CA" sz="2400" b="1" dirty="0" smtClean="0">
                <a:latin typeface="Andalus" pitchFamily="18" charset="-78"/>
                <a:cs typeface="Andalus" pitchFamily="18" charset="-78"/>
              </a:rPr>
              <a:t>To create nested </a:t>
            </a:r>
            <a:r>
              <a:rPr lang="en-CA" sz="2400" b="1" dirty="0" err="1" smtClean="0">
                <a:latin typeface="Andalus" pitchFamily="18" charset="-78"/>
                <a:cs typeface="Andalus" pitchFamily="18" charset="-78"/>
              </a:rPr>
              <a:t>directorie</a:t>
            </a:r>
            <a:endParaRPr lang="en-CA" sz="2400" b="1" dirty="0" smtClean="0">
              <a:latin typeface="Andalus" pitchFamily="18" charset="-78"/>
              <a:cs typeface="Andalus" pitchFamily="18" charset="-78"/>
            </a:endParaRPr>
          </a:p>
          <a:p>
            <a:pPr>
              <a:lnSpc>
                <a:spcPct val="150000"/>
              </a:lnSpc>
            </a:pPr>
            <a:endParaRPr lang="en-CA" sz="2400" b="1" dirty="0" smtClean="0">
              <a:latin typeface="Andalus" pitchFamily="18" charset="-78"/>
              <a:cs typeface="Andalus" pitchFamily="18" charset="-78"/>
            </a:endParaRPr>
          </a:p>
          <a:p>
            <a:pPr>
              <a:lnSpc>
                <a:spcPct val="150000"/>
              </a:lnSpc>
            </a:pPr>
            <a:endParaRPr lang="en-CA" sz="2400" b="1" dirty="0" smtClean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20" y="3671832"/>
            <a:ext cx="8643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000" b="1" dirty="0" smtClean="0">
                <a:solidFill>
                  <a:srgbClr val="000000"/>
                </a:solidFill>
                <a:latin typeface="Arial Black" pitchFamily="34" charset="0"/>
                <a:cs typeface="Calibri"/>
              </a:rPr>
              <a:t># </a:t>
            </a:r>
            <a:r>
              <a:rPr lang="en-CA" sz="2000" b="1" dirty="0" err="1" smtClean="0">
                <a:solidFill>
                  <a:srgbClr val="000000"/>
                </a:solidFill>
                <a:latin typeface="Arial Black" pitchFamily="34" charset="0"/>
                <a:cs typeface="Calibri Bold"/>
              </a:rPr>
              <a:t>mkdir</a:t>
            </a:r>
            <a:r>
              <a:rPr lang="en-CA" sz="2000" b="1" dirty="0" smtClean="0">
                <a:solidFill>
                  <a:srgbClr val="000000"/>
                </a:solidFill>
                <a:latin typeface="Arial Black" pitchFamily="34" charset="0"/>
                <a:cs typeface="Calibri Bold"/>
              </a:rPr>
              <a:t> –p  </a:t>
            </a:r>
            <a:r>
              <a:rPr lang="en-CA" sz="2000" b="1" dirty="0" err="1" smtClean="0">
                <a:solidFill>
                  <a:srgbClr val="000000"/>
                </a:solidFill>
                <a:latin typeface="Arial Black" pitchFamily="34" charset="0"/>
                <a:cs typeface="Calibri Bold"/>
              </a:rPr>
              <a:t>firstdirectory</a:t>
            </a:r>
            <a:r>
              <a:rPr lang="en-CA" sz="2000" b="1" dirty="0" smtClean="0">
                <a:solidFill>
                  <a:srgbClr val="000000"/>
                </a:solidFill>
                <a:latin typeface="Arial Black" pitchFamily="34" charset="0"/>
                <a:cs typeface="Calibri Bold"/>
              </a:rPr>
              <a:t>/</a:t>
            </a:r>
            <a:r>
              <a:rPr lang="en-CA" sz="2000" b="1" dirty="0" err="1" smtClean="0">
                <a:solidFill>
                  <a:srgbClr val="000000"/>
                </a:solidFill>
                <a:latin typeface="Arial Black" pitchFamily="34" charset="0"/>
                <a:cs typeface="Calibri Bold"/>
              </a:rPr>
              <a:t>seconddirectory</a:t>
            </a:r>
            <a:r>
              <a:rPr lang="en-CA" sz="2000" b="1" dirty="0" smtClean="0">
                <a:solidFill>
                  <a:srgbClr val="000000"/>
                </a:solidFill>
                <a:latin typeface="Arial Black" pitchFamily="34" charset="0"/>
                <a:cs typeface="Calibri Bold"/>
              </a:rPr>
              <a:t>/</a:t>
            </a:r>
            <a:r>
              <a:rPr lang="en-CA" sz="2000" b="1" dirty="0" err="1" smtClean="0">
                <a:solidFill>
                  <a:srgbClr val="000000"/>
                </a:solidFill>
                <a:latin typeface="Arial Black" pitchFamily="34" charset="0"/>
                <a:cs typeface="Calibri Bold"/>
              </a:rPr>
              <a:t>thirddirectory</a:t>
            </a:r>
            <a:endParaRPr lang="en-CA" sz="2000" b="1" dirty="0" smtClean="0">
              <a:solidFill>
                <a:srgbClr val="000000"/>
              </a:solidFill>
              <a:latin typeface="Arial Black" pitchFamily="34" charset="0"/>
              <a:cs typeface="Calibri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1604" y="571480"/>
            <a:ext cx="6000792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How to Create Directory</a:t>
            </a:r>
            <a:endParaRPr lang="en-US" sz="3600" dirty="0"/>
          </a:p>
        </p:txBody>
      </p:sp>
      <p:grpSp>
        <p:nvGrpSpPr>
          <p:cNvPr id="7" name="Group 4"/>
          <p:cNvGrpSpPr/>
          <p:nvPr/>
        </p:nvGrpSpPr>
        <p:grpSpPr>
          <a:xfrm>
            <a:off x="0" y="-71462"/>
            <a:ext cx="9261993" cy="6929462"/>
            <a:chOff x="-46523" y="-71462"/>
            <a:chExt cx="9261993" cy="6929462"/>
          </a:xfrm>
        </p:grpSpPr>
        <p:grpSp>
          <p:nvGrpSpPr>
            <p:cNvPr id="8" name="Group 5"/>
            <p:cNvGrpSpPr/>
            <p:nvPr/>
          </p:nvGrpSpPr>
          <p:grpSpPr>
            <a:xfrm>
              <a:off x="-46523" y="0"/>
              <a:ext cx="9190523" cy="6858000"/>
              <a:chOff x="-46523" y="0"/>
              <a:chExt cx="9190523" cy="6858000"/>
            </a:xfrm>
          </p:grpSpPr>
          <p:pic>
            <p:nvPicPr>
              <p:cNvPr id="10" name="Picture 9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96667"/>
              <a:stretch>
                <a:fillRect/>
              </a:stretch>
            </p:blipFill>
            <p:spPr bwMode="auto">
              <a:xfrm>
                <a:off x="-46523" y="6629400"/>
                <a:ext cx="9190523" cy="228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1" name="Picture 10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5555" b="86667"/>
              <a:stretch>
                <a:fillRect/>
              </a:stretch>
            </p:blipFill>
            <p:spPr bwMode="auto">
              <a:xfrm>
                <a:off x="0" y="0"/>
                <a:ext cx="9144000" cy="53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9" name="TextBox 19"/>
            <p:cNvSpPr txBox="1"/>
            <p:nvPr/>
          </p:nvSpPr>
          <p:spPr>
            <a:xfrm flipH="1">
              <a:off x="4143372" y="-71462"/>
              <a:ext cx="50720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214282" y="1500174"/>
            <a:ext cx="8358246" cy="3231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#</a:t>
            </a:r>
            <a:r>
              <a:rPr lang="en-US" sz="20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mkdir</a:t>
            </a:r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&lt;</a:t>
            </a:r>
            <a:r>
              <a:rPr lang="en-US" sz="20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directoryname</a:t>
            </a:r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CA" sz="2400" b="1" dirty="0" smtClean="0">
                <a:latin typeface="Andalus" pitchFamily="18" charset="-78"/>
                <a:cs typeface="Andalus" pitchFamily="18" charset="-78"/>
              </a:rPr>
              <a:t>To create multiple directories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# </a:t>
            </a:r>
            <a:r>
              <a:rPr lang="en-US" sz="20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mkdir</a:t>
            </a:r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&lt;first </a:t>
            </a:r>
            <a:r>
              <a:rPr lang="en-US" sz="20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directoryname</a:t>
            </a:r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&gt;  &lt;second </a:t>
            </a:r>
            <a:r>
              <a:rPr lang="en-US" sz="20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directoryname</a:t>
            </a:r>
            <a:r>
              <a:rPr lang="en-US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CA" sz="2400" b="1" dirty="0" smtClean="0">
                <a:latin typeface="Andalus" pitchFamily="18" charset="-78"/>
                <a:cs typeface="Andalus" pitchFamily="18" charset="-78"/>
              </a:rPr>
              <a:t>To create nested </a:t>
            </a:r>
            <a:r>
              <a:rPr lang="en-CA" sz="2400" b="1" dirty="0" err="1" smtClean="0">
                <a:latin typeface="Andalus" pitchFamily="18" charset="-78"/>
                <a:cs typeface="Andalus" pitchFamily="18" charset="-78"/>
              </a:rPr>
              <a:t>directorie</a:t>
            </a:r>
            <a:endParaRPr lang="en-CA" sz="2400" b="1" dirty="0" smtClean="0">
              <a:latin typeface="Andalus" pitchFamily="18" charset="-78"/>
              <a:cs typeface="Andalus" pitchFamily="18" charset="-78"/>
            </a:endParaRPr>
          </a:p>
          <a:p>
            <a:pPr>
              <a:lnSpc>
                <a:spcPct val="150000"/>
              </a:lnSpc>
            </a:pPr>
            <a:endParaRPr lang="en-CA" sz="2400" b="1" dirty="0" smtClean="0">
              <a:latin typeface="Andalus" pitchFamily="18" charset="-78"/>
              <a:cs typeface="Andalus" pitchFamily="18" charset="-78"/>
            </a:endParaRPr>
          </a:p>
          <a:p>
            <a:pPr>
              <a:lnSpc>
                <a:spcPct val="150000"/>
              </a:lnSpc>
            </a:pPr>
            <a:endParaRPr lang="en-CA" sz="2400" b="1" dirty="0" smtClean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42844" y="3634844"/>
            <a:ext cx="8643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000" b="1" dirty="0" smtClean="0">
                <a:solidFill>
                  <a:srgbClr val="0070C0"/>
                </a:solidFill>
                <a:latin typeface="Arial Black" pitchFamily="34" charset="0"/>
                <a:cs typeface="Calibri"/>
              </a:rPr>
              <a:t># </a:t>
            </a:r>
            <a:r>
              <a:rPr lang="en-CA" sz="2000" b="1" dirty="0" err="1" smtClean="0">
                <a:solidFill>
                  <a:srgbClr val="0070C0"/>
                </a:solidFill>
                <a:latin typeface="Arial Black" pitchFamily="34" charset="0"/>
                <a:cs typeface="Calibri Bold"/>
              </a:rPr>
              <a:t>mkdir</a:t>
            </a:r>
            <a:r>
              <a:rPr lang="en-CA" sz="2000" b="1" dirty="0" smtClean="0">
                <a:solidFill>
                  <a:srgbClr val="0070C0"/>
                </a:solidFill>
                <a:latin typeface="Arial Black" pitchFamily="34" charset="0"/>
                <a:cs typeface="Calibri Bold"/>
              </a:rPr>
              <a:t> –p  </a:t>
            </a:r>
            <a:r>
              <a:rPr lang="en-CA" sz="2000" b="1" dirty="0" err="1" smtClean="0">
                <a:solidFill>
                  <a:srgbClr val="0070C0"/>
                </a:solidFill>
                <a:latin typeface="Arial Black" pitchFamily="34" charset="0"/>
                <a:cs typeface="Calibri Bold"/>
              </a:rPr>
              <a:t>firstdirectory</a:t>
            </a:r>
            <a:r>
              <a:rPr lang="en-CA" sz="2000" b="1" dirty="0" smtClean="0">
                <a:solidFill>
                  <a:srgbClr val="0070C0"/>
                </a:solidFill>
                <a:latin typeface="Arial Black" pitchFamily="34" charset="0"/>
                <a:cs typeface="Calibri Bold"/>
              </a:rPr>
              <a:t>/</a:t>
            </a:r>
            <a:r>
              <a:rPr lang="en-CA" sz="2000" b="1" dirty="0" err="1" smtClean="0">
                <a:solidFill>
                  <a:srgbClr val="0070C0"/>
                </a:solidFill>
                <a:latin typeface="Arial Black" pitchFamily="34" charset="0"/>
                <a:cs typeface="Calibri Bold"/>
              </a:rPr>
              <a:t>seconddirectory</a:t>
            </a:r>
            <a:r>
              <a:rPr lang="en-CA" sz="2000" b="1" dirty="0" smtClean="0">
                <a:solidFill>
                  <a:srgbClr val="0070C0"/>
                </a:solidFill>
                <a:latin typeface="Arial Black" pitchFamily="34" charset="0"/>
                <a:cs typeface="Calibri Bold"/>
              </a:rPr>
              <a:t>/</a:t>
            </a:r>
            <a:r>
              <a:rPr lang="en-CA" sz="2000" b="1" dirty="0" err="1" smtClean="0">
                <a:solidFill>
                  <a:srgbClr val="0070C0"/>
                </a:solidFill>
                <a:latin typeface="Arial Black" pitchFamily="34" charset="0"/>
                <a:cs typeface="Calibri Bold"/>
              </a:rPr>
              <a:t>thirddirectory</a:t>
            </a:r>
            <a:endParaRPr lang="en-CA" sz="2000" b="1" dirty="0" smtClean="0">
              <a:solidFill>
                <a:srgbClr val="0070C0"/>
              </a:solidFill>
              <a:latin typeface="Arial Black" pitchFamily="34" charset="0"/>
              <a:cs typeface="Calibr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2" cstate="print"/>
          <a:srcRect t="5555" b="86667"/>
          <a:stretch>
            <a:fillRect/>
          </a:stretch>
        </p:blipFill>
        <p:spPr bwMode="auto">
          <a:xfrm>
            <a:off x="46523" y="0"/>
            <a:ext cx="881175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8</a:t>
            </a:fld>
            <a:endParaRPr lang="en-CA"/>
          </a:p>
        </p:txBody>
      </p:sp>
      <p:sp>
        <p:nvSpPr>
          <p:cNvPr id="3" name="TextBox 2"/>
          <p:cNvSpPr txBox="1"/>
          <p:nvPr/>
        </p:nvSpPr>
        <p:spPr>
          <a:xfrm>
            <a:off x="285720" y="1285860"/>
            <a:ext cx="8143932" cy="52937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2000" dirty="0" smtClean="0"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sz="22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change the directory</a:t>
            </a:r>
            <a:endParaRPr lang="en-US" sz="2200" dirty="0" smtClean="0">
              <a:latin typeface="Andalus" pitchFamily="18" charset="-78"/>
              <a:cs typeface="Andalus" pitchFamily="18" charset="-78"/>
            </a:endParaRPr>
          </a:p>
          <a:p>
            <a:r>
              <a:rPr lang="en-US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#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cd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  &lt;path of the directory&gt;</a:t>
            </a:r>
          </a:p>
          <a:p>
            <a:endParaRPr lang="en-CA" sz="2200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sz="22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change directory one level back</a:t>
            </a:r>
            <a:endParaRPr lang="en-US" sz="2200" b="1" dirty="0" smtClean="0">
              <a:latin typeface="Andalus" pitchFamily="18" charset="-78"/>
              <a:cs typeface="Andalus" pitchFamily="18" charset="-78"/>
            </a:endParaRPr>
          </a:p>
          <a:p>
            <a:r>
              <a:rPr lang="en-US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US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US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~ ] #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cd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  . .</a:t>
            </a:r>
          </a:p>
          <a:p>
            <a:pPr>
              <a:buFont typeface="Wingdings" pitchFamily="2" charset="2"/>
              <a:buChar char="Ø"/>
            </a:pPr>
            <a:endParaRPr lang="en-CA" sz="2200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sz="22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change directory two levels back</a:t>
            </a:r>
            <a:endParaRPr lang="en-CA" sz="2200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[root@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~] #  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cd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   . . / . </a:t>
            </a:r>
            <a:r>
              <a:rPr lang="en-CA" sz="2000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.</a:t>
            </a:r>
          </a:p>
          <a:p>
            <a:endParaRPr lang="en-CA" sz="2200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sz="22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change to the last working directory</a:t>
            </a:r>
          </a:p>
          <a:p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~ ] #  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cd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 -</a:t>
            </a:r>
          </a:p>
          <a:p>
            <a:endParaRPr lang="en-CA" sz="2200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sz="22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change to the users home directory</a:t>
            </a:r>
          </a:p>
          <a:p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~ ]#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cd</a:t>
            </a:r>
            <a:endParaRPr lang="en-CA" sz="2400" b="1" dirty="0" smtClean="0">
              <a:solidFill>
                <a:srgbClr val="0070C0"/>
              </a:solidFill>
              <a:latin typeface="Arial Black" pitchFamily="34" charset="0"/>
              <a:cs typeface="Andalus" pitchFamily="18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71802" y="568091"/>
            <a:ext cx="5643602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Navigation of Directories</a:t>
            </a:r>
            <a:endParaRPr lang="en-US" sz="3600" dirty="0"/>
          </a:p>
        </p:txBody>
      </p:sp>
      <p:sp>
        <p:nvSpPr>
          <p:cNvPr id="8" name="TextBox 19"/>
          <p:cNvSpPr txBox="1"/>
          <p:nvPr/>
        </p:nvSpPr>
        <p:spPr>
          <a:xfrm flipH="1">
            <a:off x="4189893" y="-71462"/>
            <a:ext cx="51684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KR Network Cloud Tech. Pvt. Ltd.</a:t>
            </a:r>
            <a:endParaRPr 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/>
          <a:srcRect t="5555" b="86667"/>
          <a:stretch>
            <a:fillRect/>
          </a:stretch>
        </p:blipFill>
        <p:spPr bwMode="auto">
          <a:xfrm>
            <a:off x="46523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9</a:t>
            </a:fld>
            <a:endParaRPr lang="en-CA"/>
          </a:p>
        </p:txBody>
      </p:sp>
      <p:sp>
        <p:nvSpPr>
          <p:cNvPr id="3" name="TextBox 2"/>
          <p:cNvSpPr txBox="1"/>
          <p:nvPr/>
        </p:nvSpPr>
        <p:spPr>
          <a:xfrm>
            <a:off x="214282" y="1351083"/>
            <a:ext cx="7858180" cy="47089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b="1" dirty="0" smtClean="0"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To view the contents of a file</a:t>
            </a:r>
          </a:p>
          <a:p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            </a:t>
            </a:r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CA" b="1" dirty="0" err="1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~ ]  # cat    &lt;filename&gt;</a:t>
            </a:r>
          </a:p>
          <a:p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                                         </a:t>
            </a:r>
          </a:p>
          <a:p>
            <a:pPr>
              <a:buBlip>
                <a:blip r:embed="rId3"/>
              </a:buBlip>
            </a:pPr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Creating and displaying text file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To create a file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           [ root @ </a:t>
            </a:r>
            <a:r>
              <a:rPr lang="en-CA" b="1" dirty="0" err="1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~ ]  # cat   &gt;&gt;    &lt;filename&gt;</a:t>
            </a:r>
          </a:p>
          <a:p>
            <a:endParaRPr lang="en-CA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To append or add to an existing file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         [root @ </a:t>
            </a:r>
            <a:r>
              <a:rPr lang="en-CA" b="1" dirty="0" err="1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 ~ ] #  cat  &gt;&gt;  &lt;filename&gt;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To combine the data of two or more files into a third file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sz="12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      </a:t>
            </a:r>
            <a:r>
              <a:rPr lang="en-CA" sz="1200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CA" sz="1200" b="1" dirty="0" err="1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sz="1200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~ ] # cat  &lt;first file&gt;  &lt;second file&gt;&gt;&gt;       &lt;third file&gt;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29190" y="577974"/>
            <a:ext cx="3857652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Cat Command</a:t>
            </a:r>
            <a:endParaRPr lang="en-US" sz="4000" dirty="0"/>
          </a:p>
        </p:txBody>
      </p:sp>
      <p:sp>
        <p:nvSpPr>
          <p:cNvPr id="9" name="TextBox 19"/>
          <p:cNvSpPr txBox="1"/>
          <p:nvPr/>
        </p:nvSpPr>
        <p:spPr>
          <a:xfrm flipH="1">
            <a:off x="4189895" y="0"/>
            <a:ext cx="49541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KR Network Cloud Tech. Pvt. Ltd.</a:t>
            </a:r>
            <a:endParaRPr 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720" y="1357298"/>
            <a:ext cx="7858180" cy="47089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b="1" dirty="0" smtClean="0"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To view the contents of a file</a:t>
            </a:r>
          </a:p>
          <a:p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            </a:t>
            </a:r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CA" b="1" dirty="0" err="1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~ ]  # cat    &lt;filename&gt;</a:t>
            </a:r>
          </a:p>
          <a:p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                                         </a:t>
            </a:r>
          </a:p>
          <a:p>
            <a:pPr>
              <a:buBlip>
                <a:blip r:embed="rId3"/>
              </a:buBlip>
            </a:pPr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Creating and displaying text file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To create a file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           [ root @ </a:t>
            </a:r>
            <a:r>
              <a:rPr lang="en-CA" b="1" dirty="0" err="1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~ ]  # cat   &gt;&gt;    &lt;filename&gt;</a:t>
            </a:r>
          </a:p>
          <a:p>
            <a:endParaRPr lang="en-CA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To append or add to an existing file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         [root @ </a:t>
            </a:r>
            <a:r>
              <a:rPr lang="en-CA" b="1" dirty="0" err="1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 ~ ] #  cat  &gt;&gt;  &lt;filename&gt;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To combine the data of two or more files into a third file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sz="12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      </a:t>
            </a:r>
            <a:r>
              <a:rPr lang="en-CA" sz="1200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[ root @ </a:t>
            </a:r>
            <a:r>
              <a:rPr lang="en-CA" sz="1200" b="1" dirty="0" err="1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krnetworkcloud</a:t>
            </a:r>
            <a:r>
              <a:rPr lang="en-CA" sz="1200" b="1" dirty="0" smtClean="0">
                <a:solidFill>
                  <a:srgbClr val="000000"/>
                </a:solidFill>
                <a:latin typeface="Arial Black" pitchFamily="34" charset="0"/>
                <a:cs typeface="Andalus" pitchFamily="18" charset="-78"/>
              </a:rPr>
              <a:t> ~ ] # cat  &lt;first file&gt;  &lt;second file&gt;&gt;&gt;       &lt;third file&gt;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282" y="1363225"/>
            <a:ext cx="7858180" cy="47705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b="1" dirty="0" smtClean="0"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sz="22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To view the contents of a file</a:t>
            </a:r>
          </a:p>
          <a:p>
            <a:r>
              <a:rPr lang="en-CA" sz="2400" b="1" dirty="0" smtClean="0">
                <a:solidFill>
                  <a:srgbClr val="0070C0"/>
                </a:solidFill>
                <a:latin typeface="Andalus" pitchFamily="18" charset="-78"/>
                <a:cs typeface="Andalus" pitchFamily="18" charset="-78"/>
              </a:rPr>
              <a:t>                  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# cat    &lt;filename&gt;</a:t>
            </a:r>
          </a:p>
          <a:p>
            <a:r>
              <a:rPr lang="en-CA" sz="22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                                             </a:t>
            </a:r>
          </a:p>
          <a:p>
            <a:pPr>
              <a:buBlip>
                <a:blip r:embed="rId3"/>
              </a:buBlip>
            </a:pPr>
            <a:r>
              <a:rPr lang="en-CA" sz="22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Creating and displaying text file</a:t>
            </a:r>
          </a:p>
          <a:p>
            <a:endParaRPr lang="en-CA" sz="2200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sz="22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To create a file</a:t>
            </a:r>
          </a:p>
          <a:p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# cat   &gt;&gt;    &lt;filename&gt;</a:t>
            </a:r>
          </a:p>
          <a:p>
            <a:endParaRPr lang="en-CA" sz="2200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sz="22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To append or add to an existing file</a:t>
            </a:r>
          </a:p>
          <a:p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#  cat  &gt;&gt;  &lt;filename&gt;</a:t>
            </a:r>
          </a:p>
          <a:p>
            <a:endParaRPr lang="en-CA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3"/>
              </a:buBlip>
            </a:pPr>
            <a:r>
              <a:rPr lang="en-CA" sz="22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To combine the data of two or more files into a third file</a:t>
            </a:r>
          </a:p>
          <a:p>
            <a:r>
              <a:rPr lang="en-CA" sz="20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# cat  &lt;first file&gt;  &lt;second file&gt;&gt;&gt;       &lt;third file&gt;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 t="5555" b="86667"/>
          <a:stretch>
            <a:fillRect/>
          </a:stretch>
        </p:blipFill>
        <p:spPr bwMode="auto">
          <a:xfrm>
            <a:off x="71406" y="38080"/>
            <a:ext cx="888319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10</a:t>
            </a:fld>
            <a:endParaRPr lang="en-CA"/>
          </a:p>
        </p:txBody>
      </p:sp>
      <p:sp>
        <p:nvSpPr>
          <p:cNvPr id="3" name="TextBox 2"/>
          <p:cNvSpPr txBox="1"/>
          <p:nvPr/>
        </p:nvSpPr>
        <p:spPr>
          <a:xfrm>
            <a:off x="214282" y="1568785"/>
            <a:ext cx="7429552" cy="443198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>
              <a:lnSpc>
                <a:spcPct val="200000"/>
              </a:lnSpc>
              <a:buBlip>
                <a:blip r:embed="rId3"/>
              </a:buBlip>
            </a:pPr>
            <a:r>
              <a:rPr lang="en-CA" sz="24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Files can be created by using any of the three                                                          methods given below:</a:t>
            </a:r>
          </a:p>
          <a:p>
            <a:pPr>
              <a:lnSpc>
                <a:spcPct val="200000"/>
              </a:lnSpc>
              <a:buBlip>
                <a:blip r:embed="rId3"/>
              </a:buBlip>
            </a:pPr>
            <a:r>
              <a:rPr lang="en-CA" sz="24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cat command</a:t>
            </a:r>
          </a:p>
          <a:p>
            <a:pPr>
              <a:lnSpc>
                <a:spcPct val="200000"/>
              </a:lnSpc>
              <a:buBlip>
                <a:blip r:embed="rId3"/>
              </a:buBlip>
            </a:pPr>
            <a:r>
              <a:rPr lang="en-CA" sz="2400" b="1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 touch command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>
              <a:lnSpc>
                <a:spcPct val="200000"/>
              </a:lnSpc>
              <a:buBlip>
                <a:blip r:embed="rId3"/>
              </a:buBlip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  </a:t>
            </a:r>
            <a:r>
              <a:rPr lang="en-US" sz="2400" b="1" dirty="0" smtClean="0">
                <a:latin typeface="Andalus" pitchFamily="18" charset="-78"/>
                <a:cs typeface="Andalus" pitchFamily="18" charset="-78"/>
              </a:rPr>
              <a:t>VI and VIM Editor-</a:t>
            </a:r>
            <a:endParaRPr lang="en-US" sz="2400" b="1" dirty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4942" y="714356"/>
            <a:ext cx="3500462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Creation of files</a:t>
            </a:r>
            <a:endParaRPr lang="en-US" sz="3200" dirty="0"/>
          </a:p>
        </p:txBody>
      </p:sp>
      <p:sp>
        <p:nvSpPr>
          <p:cNvPr id="6" name="TextBox 19"/>
          <p:cNvSpPr txBox="1"/>
          <p:nvPr/>
        </p:nvSpPr>
        <p:spPr>
          <a:xfrm flipH="1">
            <a:off x="4189890" y="-71462"/>
            <a:ext cx="4954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KR Network Cloud Tech. Pvt. Ltd.</a:t>
            </a:r>
            <a:endParaRPr 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11</a:t>
            </a:fld>
            <a:endParaRPr lang="en-CA"/>
          </a:p>
        </p:txBody>
      </p:sp>
      <p:sp>
        <p:nvSpPr>
          <p:cNvPr id="3" name="TextBox 2"/>
          <p:cNvSpPr txBox="1"/>
          <p:nvPr/>
        </p:nvSpPr>
        <p:spPr>
          <a:xfrm>
            <a:off x="214282" y="1428736"/>
            <a:ext cx="857256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sz="22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copy a file or directory</a:t>
            </a:r>
          </a:p>
          <a:p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cp  &lt;options&gt;  &lt;source file&gt;  &lt;destination&gt;</a:t>
            </a:r>
            <a:endParaRPr lang="en-CA" sz="2400" dirty="0" smtClean="0">
              <a:solidFill>
                <a:srgbClr val="0070C0"/>
              </a:solidFill>
              <a:latin typeface="Arial Black" pitchFamily="34" charset="0"/>
              <a:cs typeface="Andalus" pitchFamily="18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43636" y="714356"/>
            <a:ext cx="2571768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Copy</a:t>
            </a:r>
            <a:endParaRPr lang="en-US" sz="3600" dirty="0"/>
          </a:p>
        </p:txBody>
      </p:sp>
      <p:grpSp>
        <p:nvGrpSpPr>
          <p:cNvPr id="7" name="Group 6"/>
          <p:cNvGrpSpPr/>
          <p:nvPr/>
        </p:nvGrpSpPr>
        <p:grpSpPr>
          <a:xfrm>
            <a:off x="117961" y="0"/>
            <a:ext cx="9026039" cy="707886"/>
            <a:chOff x="117961" y="0"/>
            <a:chExt cx="9026039" cy="707886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t="5555" b="86667"/>
            <a:stretch>
              <a:fillRect/>
            </a:stretch>
          </p:blipFill>
          <p:spPr bwMode="auto">
            <a:xfrm>
              <a:off x="117961" y="38080"/>
              <a:ext cx="8811757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TextBox 19"/>
            <p:cNvSpPr txBox="1"/>
            <p:nvPr/>
          </p:nvSpPr>
          <p:spPr>
            <a:xfrm flipH="1">
              <a:off x="4189895" y="0"/>
              <a:ext cx="49541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42844" y="3227390"/>
            <a:ext cx="8572560" cy="3416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</a:t>
            </a:r>
            <a:r>
              <a:rPr lang="en-US" sz="2400" b="1" dirty="0" err="1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i</a:t>
            </a:r>
            <a:r>
              <a:rPr lang="en-US" sz="24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         </a:t>
            </a:r>
          </a:p>
          <a:p>
            <a:pPr>
              <a:lnSpc>
                <a:spcPct val="150000"/>
              </a:lnSpc>
            </a:pPr>
            <a:r>
              <a:rPr lang="en-CA" sz="24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-r      </a:t>
            </a:r>
            <a:r>
              <a:rPr lang="en-CA" sz="2400" b="1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Recursive (To copy the directory along with its contents)</a:t>
            </a:r>
          </a:p>
          <a:p>
            <a:pPr>
              <a:lnSpc>
                <a:spcPct val="150000"/>
              </a:lnSpc>
            </a:pPr>
            <a:r>
              <a:rPr lang="en-CA" sz="24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-v     </a:t>
            </a:r>
            <a:r>
              <a:rPr lang="en-CA" sz="2400" b="1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Verbose</a:t>
            </a:r>
          </a:p>
          <a:p>
            <a:pPr>
              <a:lnSpc>
                <a:spcPct val="150000"/>
              </a:lnSpc>
            </a:pPr>
            <a:r>
              <a:rPr lang="en-CA" sz="24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-f     </a:t>
            </a:r>
            <a:r>
              <a:rPr lang="en-CA" sz="2400" b="1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 Forcefully</a:t>
            </a:r>
          </a:p>
          <a:p>
            <a:pPr>
              <a:lnSpc>
                <a:spcPct val="150000"/>
              </a:lnSpc>
            </a:pPr>
            <a:r>
              <a:rPr lang="en-CA" sz="24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-a     </a:t>
            </a:r>
          </a:p>
          <a:p>
            <a:pPr>
              <a:lnSpc>
                <a:spcPct val="150000"/>
              </a:lnSpc>
            </a:pPr>
            <a:r>
              <a:rPr lang="en-CA" sz="24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-p     </a:t>
            </a:r>
            <a:r>
              <a:rPr lang="en-CA" sz="2400" b="1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Copy with permissions</a:t>
            </a:r>
          </a:p>
        </p:txBody>
      </p:sp>
      <p:sp>
        <p:nvSpPr>
          <p:cNvPr id="10" name="Left Arrow 9"/>
          <p:cNvSpPr/>
          <p:nvPr/>
        </p:nvSpPr>
        <p:spPr>
          <a:xfrm>
            <a:off x="6143636" y="2285992"/>
            <a:ext cx="2571768" cy="157163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Options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12</a:t>
            </a:fld>
            <a:endParaRPr lang="en-CA"/>
          </a:p>
        </p:txBody>
      </p:sp>
      <p:sp>
        <p:nvSpPr>
          <p:cNvPr id="3" name="TextBox 2"/>
          <p:cNvSpPr txBox="1"/>
          <p:nvPr/>
        </p:nvSpPr>
        <p:spPr>
          <a:xfrm>
            <a:off x="285720" y="1428736"/>
            <a:ext cx="8643998" cy="18774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Blip>
                <a:blip r:embed="rId2"/>
              </a:buBlip>
            </a:pPr>
            <a:r>
              <a:rPr lang="en-CA" sz="22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remove or delete an empty directory</a:t>
            </a:r>
          </a:p>
          <a:p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rmdir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&lt;directory name&gt;</a:t>
            </a:r>
          </a:p>
          <a:p>
            <a:endParaRPr lang="en-CA" sz="2400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2"/>
              </a:buBlip>
            </a:pPr>
            <a:r>
              <a:rPr lang="en-CA" sz="22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remove or delete a file or directory</a:t>
            </a:r>
          </a:p>
          <a:p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rm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&lt;options&gt;  &lt;file or directory name&gt;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6446" y="649412"/>
            <a:ext cx="3071834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Andalus" pitchFamily="18" charset="-78"/>
                <a:cs typeface="Andalus" pitchFamily="18" charset="-78"/>
              </a:rPr>
              <a:t>Remove</a:t>
            </a:r>
            <a:endParaRPr lang="en-US" sz="4000" b="1" dirty="0">
              <a:latin typeface="Andalus" pitchFamily="18" charset="-78"/>
              <a:cs typeface="Andalus" pitchFamily="18" charset="-78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7961" y="0"/>
            <a:ext cx="9026039" cy="707886"/>
            <a:chOff x="117961" y="0"/>
            <a:chExt cx="9026039" cy="707886"/>
          </a:xfrm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 t="5555" b="86667"/>
            <a:stretch>
              <a:fillRect/>
            </a:stretch>
          </p:blipFill>
          <p:spPr bwMode="auto">
            <a:xfrm>
              <a:off x="117961" y="38080"/>
              <a:ext cx="8811757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TextBox 19"/>
            <p:cNvSpPr txBox="1"/>
            <p:nvPr/>
          </p:nvSpPr>
          <p:spPr>
            <a:xfrm flipH="1">
              <a:off x="4189895" y="0"/>
              <a:ext cx="49541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42844" y="5000636"/>
            <a:ext cx="7715304" cy="12003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CA" sz="2400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r>
              <a:rPr lang="en-CA" sz="24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-r   </a:t>
            </a:r>
            <a:r>
              <a:rPr lang="en-CA" sz="2400" b="1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Recursive (Directory along with contents)</a:t>
            </a:r>
          </a:p>
          <a:p>
            <a:r>
              <a:rPr lang="en-CA" sz="2400" b="1" dirty="0" smtClean="0">
                <a:solidFill>
                  <a:srgbClr val="002060"/>
                </a:solidFill>
                <a:latin typeface="Andalus" pitchFamily="18" charset="-78"/>
                <a:cs typeface="Andalus" pitchFamily="18" charset="-78"/>
              </a:rPr>
              <a:t>-f   </a:t>
            </a:r>
            <a:r>
              <a:rPr lang="en-CA" sz="2400" b="1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Forcefully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5715008" y="3429000"/>
            <a:ext cx="3000396" cy="171451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Options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13</a:t>
            </a:fld>
            <a:endParaRPr lang="en-CA"/>
          </a:p>
        </p:txBody>
      </p:sp>
      <p:sp>
        <p:nvSpPr>
          <p:cNvPr id="3" name="TextBox 2"/>
          <p:cNvSpPr txBox="1"/>
          <p:nvPr/>
        </p:nvSpPr>
        <p:spPr>
          <a:xfrm>
            <a:off x="142844" y="1571612"/>
            <a:ext cx="8572560" cy="2585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Blip>
                <a:blip r:embed="rId2"/>
              </a:buBlip>
            </a:pP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2"/>
              </a:buBlip>
            </a:pPr>
            <a:r>
              <a:rPr lang="en-CA" sz="22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To move a file or directory to a different location</a:t>
            </a:r>
          </a:p>
          <a:p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#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mv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 &lt;source file or directory&gt;   &lt;destination&gt;</a:t>
            </a:r>
          </a:p>
          <a:p>
            <a:pPr>
              <a:buBlip>
                <a:blip r:embed="rId2"/>
              </a:buBlip>
            </a:pPr>
            <a:endParaRPr lang="en-CA" sz="2200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  <a:p>
            <a:pPr>
              <a:buBlip>
                <a:blip r:embed="rId2"/>
              </a:buBlip>
            </a:pPr>
            <a:r>
              <a:rPr lang="en-CA" sz="2200" dirty="0" smtClean="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Rename a file or directory</a:t>
            </a:r>
          </a:p>
          <a:p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#  </a:t>
            </a:r>
            <a:r>
              <a:rPr lang="en-CA" sz="2400" b="1" dirty="0" err="1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mv</a:t>
            </a:r>
            <a:r>
              <a:rPr lang="en-CA" sz="2400" b="1" dirty="0" smtClean="0">
                <a:solidFill>
                  <a:srgbClr val="0070C0"/>
                </a:solidFill>
                <a:latin typeface="Arial Black" pitchFamily="34" charset="0"/>
                <a:cs typeface="Andalus" pitchFamily="18" charset="-78"/>
              </a:rPr>
              <a:t> &lt;old name&gt;  &lt;new name&gt;</a:t>
            </a:r>
          </a:p>
          <a:p>
            <a:endParaRPr lang="en-CA" sz="2400" b="1" dirty="0" smtClean="0">
              <a:solidFill>
                <a:srgbClr val="000000"/>
              </a:solidFill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57950" y="642918"/>
            <a:ext cx="2500330" cy="785818"/>
          </a:xfrm>
          <a:prstGeom prst="roundRect">
            <a:avLst>
              <a:gd name="adj" fmla="val 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latin typeface="Andalus" pitchFamily="18" charset="-78"/>
                <a:cs typeface="Andalus" pitchFamily="18" charset="-78"/>
              </a:rPr>
              <a:t>Move</a:t>
            </a:r>
            <a:endParaRPr lang="en-US" sz="5400" dirty="0">
              <a:latin typeface="Andalus" pitchFamily="18" charset="-78"/>
              <a:cs typeface="Andalus" pitchFamily="18" charset="-78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17961" y="-71462"/>
            <a:ext cx="9026039" cy="707886"/>
            <a:chOff x="117961" y="0"/>
            <a:chExt cx="9026039" cy="707886"/>
          </a:xfrm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 t="5555" b="86667"/>
            <a:stretch>
              <a:fillRect/>
            </a:stretch>
          </p:blipFill>
          <p:spPr bwMode="auto">
            <a:xfrm>
              <a:off x="117961" y="142852"/>
              <a:ext cx="8811757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TextBox 19"/>
            <p:cNvSpPr txBox="1"/>
            <p:nvPr/>
          </p:nvSpPr>
          <p:spPr>
            <a:xfrm flipH="1">
              <a:off x="4189895" y="0"/>
              <a:ext cx="49541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14</a:t>
            </a:fld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214282" y="2643182"/>
            <a:ext cx="850112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CA" sz="2000" b="1" dirty="0" smtClean="0">
                <a:solidFill>
                  <a:srgbClr val="0070C0"/>
                </a:solidFill>
                <a:latin typeface="Arial Black" pitchFamily="34" charset="0"/>
              </a:rPr>
              <a:t># rename  &lt;old filename&gt;   &lt;new filename&gt;  &lt;old filename&gt;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3042" y="1000108"/>
            <a:ext cx="5500726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Rename</a:t>
            </a:r>
            <a:endParaRPr lang="en-US" sz="3600" dirty="0"/>
          </a:p>
        </p:txBody>
      </p:sp>
      <p:grpSp>
        <p:nvGrpSpPr>
          <p:cNvPr id="5" name="Group 4"/>
          <p:cNvGrpSpPr/>
          <p:nvPr/>
        </p:nvGrpSpPr>
        <p:grpSpPr>
          <a:xfrm>
            <a:off x="117961" y="0"/>
            <a:ext cx="9026039" cy="707886"/>
            <a:chOff x="117961" y="0"/>
            <a:chExt cx="9026039" cy="707886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 t="5555" b="86667"/>
            <a:stretch>
              <a:fillRect/>
            </a:stretch>
          </p:blipFill>
          <p:spPr bwMode="auto">
            <a:xfrm>
              <a:off x="117961" y="38080"/>
              <a:ext cx="8811757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TextBox 19"/>
            <p:cNvSpPr txBox="1"/>
            <p:nvPr/>
          </p:nvSpPr>
          <p:spPr>
            <a:xfrm flipH="1">
              <a:off x="4189895" y="0"/>
              <a:ext cx="49541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ngsana New" pitchFamily="18" charset="-34"/>
                  <a:cs typeface="Angsana New" pitchFamily="18" charset="-34"/>
                </a:rPr>
                <a:t>KR Network Cloud Tech. Pvt. Ltd.</a:t>
              </a:r>
              <a:endParaRPr 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766</TotalTime>
  <Words>868</Words>
  <Application>Microsoft Office PowerPoint</Application>
  <PresentationFormat>On-screen Show (4:3)</PresentationFormat>
  <Paragraphs>221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Oriel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Investintech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A2E_Engine</dc:creator>
  <cp:lastModifiedBy>krishna</cp:lastModifiedBy>
  <cp:revision>187</cp:revision>
  <dcterms:created xsi:type="dcterms:W3CDTF">2013-02-12T00:12:32Z</dcterms:created>
  <dcterms:modified xsi:type="dcterms:W3CDTF">2013-07-13T23:12:38Z</dcterms:modified>
</cp:coreProperties>
</file>